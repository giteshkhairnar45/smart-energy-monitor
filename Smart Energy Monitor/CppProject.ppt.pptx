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6" r:id="rId13"/>
    <p:sldId id="277" r:id="rId14"/>
    <p:sldId id="278" r:id="rId15"/>
    <p:sldId id="270" r:id="rId16"/>
    <p:sldId id="271" r:id="rId17"/>
    <p:sldId id="272" r:id="rId18"/>
    <p:sldId id="273" r:id="rId19"/>
    <p:sldId id="274" r:id="rId20"/>
    <p:sldId id="275" r:id="rId21"/>
    <p:sldId id="267" r:id="rId22"/>
    <p:sldId id="26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487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49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138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37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52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3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16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422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26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73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0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1561681-3BD4-48F1-B1D0-EE0021740BB1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8447D11-10B8-47CD-B8DA-D9BCD0D24E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65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6A06-BB03-CB38-B48F-E7AD1C319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6155" y="233479"/>
            <a:ext cx="8721213" cy="1645920"/>
          </a:xfrm>
        </p:spPr>
        <p:txBody>
          <a:bodyPr>
            <a:normAutofit/>
          </a:bodyPr>
          <a:lstStyle/>
          <a:p>
            <a:r>
              <a:rPr lang="en-US" sz="3600" b="0" i="0" dirty="0">
                <a:solidFill>
                  <a:srgbClr val="8C18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KCE’s COLLEGE OF ENGINEERING AND MANAGEMENT, JALGAON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CDA97-E6A8-3E5D-6BE4-1934E4CC0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3146323"/>
            <a:ext cx="6801612" cy="76691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Topic</a:t>
            </a:r>
          </a:p>
          <a:p>
            <a:r>
              <a:rPr lang="en-I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Energy </a:t>
            </a:r>
            <a:r>
              <a:rPr lang="en-IN" sz="28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Moniter</a:t>
            </a:r>
            <a:endParaRPr lang="en-IN" sz="28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13E1E5D-BDA5-899E-706C-FE6573600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23" y="219860"/>
            <a:ext cx="1777671" cy="209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F7F8D-C360-23BB-297E-E538D1FFEB29}"/>
              </a:ext>
            </a:extLst>
          </p:cNvPr>
          <p:cNvSpPr txBox="1"/>
          <p:nvPr/>
        </p:nvSpPr>
        <p:spPr>
          <a:xfrm>
            <a:off x="4001729" y="2036296"/>
            <a:ext cx="7030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Computer Engineering (Polytechnic)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E2E76-CD74-92F6-5D64-AD71FAC73ADC}"/>
              </a:ext>
            </a:extLst>
          </p:cNvPr>
          <p:cNvSpPr txBox="1"/>
          <p:nvPr/>
        </p:nvSpPr>
        <p:spPr>
          <a:xfrm>
            <a:off x="7516761" y="4748299"/>
            <a:ext cx="42284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Group Members Name: </a:t>
            </a:r>
          </a:p>
          <a:p>
            <a:r>
              <a:rPr lang="en-IN" b="1" dirty="0">
                <a:solidFill>
                  <a:schemeClr val="bg2"/>
                </a:solidFill>
              </a:rPr>
              <a:t>1. Sumit Y Chaudhari (17)</a:t>
            </a:r>
          </a:p>
          <a:p>
            <a:r>
              <a:rPr lang="en-IN" b="1" dirty="0">
                <a:solidFill>
                  <a:schemeClr val="bg2"/>
                </a:solidFill>
              </a:rPr>
              <a:t>2. Chetan R Chaudhari (32)</a:t>
            </a:r>
          </a:p>
          <a:p>
            <a:r>
              <a:rPr lang="en-IN" b="1" dirty="0">
                <a:solidFill>
                  <a:schemeClr val="bg2"/>
                </a:solidFill>
              </a:rPr>
              <a:t>3.Pranay V Jagtap(40)</a:t>
            </a:r>
          </a:p>
          <a:p>
            <a:r>
              <a:rPr lang="en-IN" b="1" dirty="0">
                <a:solidFill>
                  <a:schemeClr val="bg2"/>
                </a:solidFill>
              </a:rPr>
              <a:t>Guide Name: Punam Chaudhari Mam</a:t>
            </a:r>
          </a:p>
        </p:txBody>
      </p:sp>
    </p:spTree>
    <p:extLst>
      <p:ext uri="{BB962C8B-B14F-4D97-AF65-F5344CB8AC3E}">
        <p14:creationId xmlns:p14="http://schemas.microsoft.com/office/powerpoint/2010/main" val="372198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E51C96-E390-D52D-CD76-CA2D9285A52D}"/>
              </a:ext>
            </a:extLst>
          </p:cNvPr>
          <p:cNvSpPr txBox="1"/>
          <p:nvPr/>
        </p:nvSpPr>
        <p:spPr>
          <a:xfrm>
            <a:off x="3805086" y="373627"/>
            <a:ext cx="428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2B0AD-0005-27D1-68A3-31518E75D118}"/>
              </a:ext>
            </a:extLst>
          </p:cNvPr>
          <p:cNvSpPr txBox="1"/>
          <p:nvPr/>
        </p:nvSpPr>
        <p:spPr>
          <a:xfrm>
            <a:off x="108156" y="1740310"/>
            <a:ext cx="11975690" cy="4906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DF478-5709-C67D-3D4C-89B0BECB0DF1}"/>
              </a:ext>
            </a:extLst>
          </p:cNvPr>
          <p:cNvSpPr txBox="1"/>
          <p:nvPr/>
        </p:nvSpPr>
        <p:spPr>
          <a:xfrm>
            <a:off x="550607" y="934063"/>
            <a:ext cx="11169446" cy="6246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0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Electricity consumption is a significant household and business expense. With increasing energy costs, it becomes crucial to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monitor and optimize electricity usage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reduce expenses. However, most individuals and businesses lack the necessary tools to </a:t>
            </a:r>
            <a:r>
              <a:rPr lang="en-GB" sz="18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analyze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their electricity consumption trends, predict future bills, and implement cost-saving measures efficiently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Energy Bill Predictor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an innovative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desktop application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developed using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and </a:t>
            </a:r>
            <a:r>
              <a:rPr lang="en-GB" sz="18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Tkinter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integrating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 learning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AI-based recommendations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system allows users to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input their electricity bill history, predict future costs, </a:t>
            </a:r>
            <a:r>
              <a:rPr lang="en-GB" sz="18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analyze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appliance usage patterns, and get AI-driven suggestions for energy conservation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endParaRPr lang="en-IN" sz="18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 utilizing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 Regression from Scikit-learn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the system learns from past energy usage data and predicts the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expected electricity bill for the upcoming month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application also integrates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Google Gemini AI-powered chatbot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which provides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real-time responses to energy-related queries and power-saving suggestions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graphical interface, built using </a:t>
            </a:r>
            <a:r>
              <a:rPr lang="en-GB" sz="18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Tkinter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ensures an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interactive and user-friendly experience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users.</a:t>
            </a:r>
            <a:endParaRPr lang="en-IN" sz="18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3224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A5530-EE97-7B62-B6C8-10AEDFAF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D0C2B9D-4FEA-6C01-DC01-DD674172C956}"/>
              </a:ext>
            </a:extLst>
          </p:cNvPr>
          <p:cNvSpPr txBox="1"/>
          <p:nvPr/>
        </p:nvSpPr>
        <p:spPr>
          <a:xfrm>
            <a:off x="3805086" y="373627"/>
            <a:ext cx="428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AA2903-12B5-B7ED-DA4A-1E9D7D0A41C9}"/>
              </a:ext>
            </a:extLst>
          </p:cNvPr>
          <p:cNvSpPr txBox="1"/>
          <p:nvPr/>
        </p:nvSpPr>
        <p:spPr>
          <a:xfrm>
            <a:off x="108156" y="1740310"/>
            <a:ext cx="11975690" cy="4906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95508B-BCC4-FD94-00F0-830C560DB656}"/>
              </a:ext>
            </a:extLst>
          </p:cNvPr>
          <p:cNvSpPr txBox="1"/>
          <p:nvPr/>
        </p:nvSpPr>
        <p:spPr>
          <a:xfrm>
            <a:off x="599768" y="904566"/>
            <a:ext cx="11169446" cy="4532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2400" kern="100" dirty="0">
                <a:solidFill>
                  <a:srgbClr val="0F476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Key Features</a:t>
            </a:r>
            <a:endParaRPr lang="en-IN" sz="2400" kern="100" dirty="0">
              <a:solidFill>
                <a:srgbClr val="0F4761"/>
              </a:solidFill>
              <a:effectLst/>
              <a:latin typeface="Arial Black" panose="020B0A040201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GB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Electricity Bill Prediction</a:t>
            </a:r>
            <a:r>
              <a:rPr lang="en-GB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Uses </a:t>
            </a:r>
            <a:r>
              <a:rPr lang="en-GB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(Linear Regression)</a:t>
            </a:r>
            <a:r>
              <a:rPr lang="en-GB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estimate future electricity costs based on past data.</a:t>
            </a:r>
            <a:endParaRPr lang="en-IN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Energy Usage Reports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800" kern="1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appliance-wise energy consumption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presents data in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charts and graphs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Chatbot for Assistance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Provides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expert energy-saving recommendations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through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Google Gemini AI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User-Friendly GUI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Built with </a:t>
            </a:r>
            <a:r>
              <a:rPr lang="en-GB" sz="1800" b="1" kern="1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allowing users to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navigate easily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between sections.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Theme Customization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Supports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light and dark themes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an enhanced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 experience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97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E8F4-2666-AFF8-79C0-9C7F9274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309785B-690E-46CE-9BBE-52D25A5782A1}"/>
              </a:ext>
            </a:extLst>
          </p:cNvPr>
          <p:cNvSpPr txBox="1"/>
          <p:nvPr/>
        </p:nvSpPr>
        <p:spPr>
          <a:xfrm>
            <a:off x="3441289" y="285136"/>
            <a:ext cx="5525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Problem Statement</a:t>
            </a:r>
            <a:endParaRPr lang="en-IN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1A22F-EA01-453D-CAEC-01F78EF3EEF1}"/>
              </a:ext>
            </a:extLst>
          </p:cNvPr>
          <p:cNvSpPr txBox="1"/>
          <p:nvPr/>
        </p:nvSpPr>
        <p:spPr>
          <a:xfrm>
            <a:off x="108156" y="1740310"/>
            <a:ext cx="11975690" cy="4906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78DD6-AAA3-B5D2-D720-3A78A23B1F45}"/>
              </a:ext>
            </a:extLst>
          </p:cNvPr>
          <p:cNvSpPr txBox="1"/>
          <p:nvPr/>
        </p:nvSpPr>
        <p:spPr>
          <a:xfrm>
            <a:off x="570271" y="511276"/>
            <a:ext cx="11169446" cy="566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0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2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Challenges in Managing Electricity Consumption</a:t>
            </a:r>
            <a:endParaRPr lang="en-IN" sz="2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Many individuals and businesses experience high electricity bills due to unmonitored and inefficient power consumption. Common challenges include:</a:t>
            </a:r>
            <a:endParaRPr lang="en-IN" sz="18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Lack of tracking mechanisms: Most users do not monitor their electricity usage until they receive their bills.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Unpredictable electricity costs: Fluctuating energy consumption leads to inconsistent billing amounts.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Inefficient appliance usage: Users unknowingly use energy-intensive appliances without realizing their impact on bills.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2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Need for an Energy Bill Predictor</a:t>
            </a:r>
            <a:endParaRPr lang="en-IN" sz="2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automated system that can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predict future electricity bills, </a:t>
            </a:r>
            <a:r>
              <a:rPr lang="en-GB" sz="18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analyze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usage trends, and provide cost-saving recommendations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can help users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optimize their electricity consumption and reduce their energy expenses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18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Energy Bill Predictor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aims to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 these challenges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offering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data-driven insights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AI-powered assistance for better energy management.</a:t>
            </a:r>
            <a:endParaRPr lang="en-IN" sz="18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022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2932-6DF4-908E-BBDE-20AAED47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DADECB9-D181-E26E-8911-B122455570B8}"/>
              </a:ext>
            </a:extLst>
          </p:cNvPr>
          <p:cNvSpPr txBox="1"/>
          <p:nvPr/>
        </p:nvSpPr>
        <p:spPr>
          <a:xfrm>
            <a:off x="3087328" y="314633"/>
            <a:ext cx="5525731" cy="698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GB" sz="1800" b="1" kern="100" dirty="0">
                <a:solidFill>
                  <a:srgbClr val="FF000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Objectives</a:t>
            </a:r>
            <a:endParaRPr lang="en-IN" sz="3600" b="1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2C806B-F0C7-83A3-DEBD-8911A7D6BCA2}"/>
              </a:ext>
            </a:extLst>
          </p:cNvPr>
          <p:cNvSpPr txBox="1"/>
          <p:nvPr/>
        </p:nvSpPr>
        <p:spPr>
          <a:xfrm>
            <a:off x="108156" y="1740310"/>
            <a:ext cx="11975690" cy="4906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5C2EAE-72D1-8BD9-9DD9-B506A7035840}"/>
              </a:ext>
            </a:extLst>
          </p:cNvPr>
          <p:cNvSpPr txBox="1"/>
          <p:nvPr/>
        </p:nvSpPr>
        <p:spPr>
          <a:xfrm>
            <a:off x="491612" y="1251337"/>
            <a:ext cx="11169446" cy="5606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goal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this project is to develop a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energy management system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helps users 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predict, </a:t>
            </a:r>
            <a:r>
              <a:rPr lang="en-GB" sz="18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optimize their electricity usage</a:t>
            </a:r>
            <a:r>
              <a:rPr lang="en-GB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sz="18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24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Specific Objectives:</a:t>
            </a:r>
            <a:endParaRPr lang="en-IN" sz="2400" b="1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a machine learning-based predictive model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can estimate future electricity bills based on past consumption.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an interactive graphical interface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GB" sz="1800" b="1" kern="1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seamless user experience.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detailed energy usage reports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helping users understand which appliances contribute the most to their bills.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 an AI chatbot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provides personalized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energy-saving recommendations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 user awareness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about electricity conservation and efficient power usage.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90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B4888-D09B-7449-3964-A03D02F3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F0CC802-BF98-A4BE-55E2-85301EEA0C5F}"/>
              </a:ext>
            </a:extLst>
          </p:cNvPr>
          <p:cNvSpPr txBox="1"/>
          <p:nvPr/>
        </p:nvSpPr>
        <p:spPr>
          <a:xfrm>
            <a:off x="1809135" y="334298"/>
            <a:ext cx="8583562" cy="675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GB" sz="3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Hardware and Software Requirements</a:t>
            </a:r>
            <a:endParaRPr lang="en-IN" sz="3600" b="1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25B35C-168B-9B43-86EE-DCC249E8B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721615"/>
              </p:ext>
            </p:extLst>
          </p:nvPr>
        </p:nvGraphicFramePr>
        <p:xfrm>
          <a:off x="550607" y="4086404"/>
          <a:ext cx="11130117" cy="25995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10039">
                  <a:extLst>
                    <a:ext uri="{9D8B030D-6E8A-4147-A177-3AD203B41FA5}">
                      <a16:colId xmlns:a16="http://schemas.microsoft.com/office/drawing/2014/main" val="3161781020"/>
                    </a:ext>
                  </a:extLst>
                </a:gridCol>
                <a:gridCol w="3710039">
                  <a:extLst>
                    <a:ext uri="{9D8B030D-6E8A-4147-A177-3AD203B41FA5}">
                      <a16:colId xmlns:a16="http://schemas.microsoft.com/office/drawing/2014/main" val="3786050298"/>
                    </a:ext>
                  </a:extLst>
                </a:gridCol>
                <a:gridCol w="3710039">
                  <a:extLst>
                    <a:ext uri="{9D8B030D-6E8A-4147-A177-3AD203B41FA5}">
                      <a16:colId xmlns:a16="http://schemas.microsoft.com/office/drawing/2014/main" val="788338940"/>
                    </a:ext>
                  </a:extLst>
                </a:gridCol>
              </a:tblGrid>
              <a:tr h="381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Component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Minimum Requirement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Recommended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31889160"/>
                  </a:ext>
                </a:extLst>
              </a:tr>
              <a:tr h="381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Processor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Intel Core i3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Intel Core i5 or higher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8340318"/>
                  </a:ext>
                </a:extLst>
              </a:tr>
              <a:tr h="381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RAM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4GB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8GB or higher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0156564"/>
                  </a:ext>
                </a:extLst>
              </a:tr>
              <a:tr h="381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solidFill>
                            <a:schemeClr val="bg2"/>
                          </a:solidFill>
                          <a:effectLst/>
                        </a:rPr>
                        <a:t>Storage</a:t>
                      </a:r>
                      <a:endParaRPr lang="en-IN" sz="1600" kern="10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500MB free space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1GB free space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77134912"/>
                  </a:ext>
                </a:extLst>
              </a:tr>
              <a:tr h="10755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Display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1024x700 resolution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1920x1080 resolution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866366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2050862-9CEB-74AA-36CA-7BE9A07F2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11769"/>
              </p:ext>
            </p:extLst>
          </p:nvPr>
        </p:nvGraphicFramePr>
        <p:xfrm>
          <a:off x="530941" y="1219199"/>
          <a:ext cx="11110452" cy="25018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66736">
                  <a:extLst>
                    <a:ext uri="{9D8B030D-6E8A-4147-A177-3AD203B41FA5}">
                      <a16:colId xmlns:a16="http://schemas.microsoft.com/office/drawing/2014/main" val="4285045549"/>
                    </a:ext>
                  </a:extLst>
                </a:gridCol>
                <a:gridCol w="5643716">
                  <a:extLst>
                    <a:ext uri="{9D8B030D-6E8A-4147-A177-3AD203B41FA5}">
                      <a16:colId xmlns:a16="http://schemas.microsoft.com/office/drawing/2014/main" val="608327355"/>
                    </a:ext>
                  </a:extLst>
                </a:gridCol>
              </a:tblGrid>
              <a:tr h="4197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Software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Description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19405824"/>
                  </a:ext>
                </a:extLst>
              </a:tr>
              <a:tr h="4197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Operating System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Windows 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682056"/>
                  </a:ext>
                </a:extLst>
              </a:tr>
              <a:tr h="4197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Programming Language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Python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4929509"/>
                  </a:ext>
                </a:extLst>
              </a:tr>
              <a:tr h="8229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Libraries Used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 err="1">
                          <a:effectLst/>
                        </a:rPr>
                        <a:t>Tkinter</a:t>
                      </a:r>
                      <a:r>
                        <a:rPr lang="en-GB" sz="1600" kern="100" dirty="0">
                          <a:effectLst/>
                        </a:rPr>
                        <a:t>, Scikit-learn, NumPy, Pandas, Matplotlib, Google Generative AI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8982290"/>
                  </a:ext>
                </a:extLst>
              </a:tr>
              <a:tr h="4197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solidFill>
                            <a:schemeClr val="bg2"/>
                          </a:solidFill>
                          <a:effectLst/>
                        </a:rPr>
                        <a:t>Development Tools</a:t>
                      </a:r>
                      <a:endParaRPr lang="en-IN" sz="16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PyCharm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810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851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8ABD-A0E6-65DC-5660-03FF9611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77749F-31F6-BDA9-C521-8C1CAF1CFF63}"/>
              </a:ext>
            </a:extLst>
          </p:cNvPr>
          <p:cNvSpPr txBox="1"/>
          <p:nvPr/>
        </p:nvSpPr>
        <p:spPr>
          <a:xfrm>
            <a:off x="3234812" y="393292"/>
            <a:ext cx="5525731" cy="698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GB" sz="3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Implementation</a:t>
            </a:r>
            <a:endParaRPr lang="en-IN" sz="3600" b="1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6BC5F-CB0C-21DB-93D0-3EFC9A080C00}"/>
              </a:ext>
            </a:extLst>
          </p:cNvPr>
          <p:cNvSpPr txBox="1"/>
          <p:nvPr/>
        </p:nvSpPr>
        <p:spPr>
          <a:xfrm>
            <a:off x="108156" y="1740310"/>
            <a:ext cx="11975690" cy="4906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713A1-8818-EE2B-0056-D424572D3B5D}"/>
              </a:ext>
            </a:extLst>
          </p:cNvPr>
          <p:cNvSpPr txBox="1"/>
          <p:nvPr/>
        </p:nvSpPr>
        <p:spPr>
          <a:xfrm>
            <a:off x="540774" y="1341127"/>
            <a:ext cx="11169446" cy="4822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 Interface (UI) Module</a:t>
            </a:r>
            <a:endParaRPr lang="en-IN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an interactive </a:t>
            </a:r>
            <a:r>
              <a:rPr lang="en-GB" b="1" kern="100" dirty="0" err="1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-based GUI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data input and visualization.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Includes a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navigation bar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easy access to different sections.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theme customization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(light/dark mode).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Input &amp; Processing Module</a:t>
            </a:r>
            <a:endParaRPr lang="en-IN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 enter their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 three months' electricity bills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system calculates the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 consumption pattern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 Learning Prediction Module</a:t>
            </a:r>
            <a:endParaRPr lang="en-IN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 Regression (from Scikit-learn)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 the next month's bill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Displays results in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graphical charts and numerical values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611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3659-0B70-13D4-22FF-B3B69EA2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E3E6568-C23B-2DBD-CE94-4C40AED2BC61}"/>
              </a:ext>
            </a:extLst>
          </p:cNvPr>
          <p:cNvSpPr txBox="1"/>
          <p:nvPr/>
        </p:nvSpPr>
        <p:spPr>
          <a:xfrm>
            <a:off x="678427" y="894736"/>
            <a:ext cx="11297263" cy="430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None/>
              <a:tabLst>
                <a:tab pos="457200" algn="l"/>
              </a:tabLst>
            </a:pP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Energy Usage Analysis Module</a:t>
            </a:r>
            <a:endParaRPr lang="en-IN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Allows users to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appliances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specify their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daily usage hours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detailed reports and energy usage trends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power-hungry appliances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cost reduction.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None/>
              <a:tabLst>
                <a:tab pos="457200" algn="l"/>
              </a:tabLst>
            </a:pP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AI Chatbot Module</a:t>
            </a:r>
            <a:endParaRPr lang="en-IN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Integrated with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Google Gemini AI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provide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automated responses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energy-related queries.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power-saving recommendations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real-time guidance.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38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0E459-7C8B-3BAC-047F-C12BE11E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880AD5-80D7-6F31-3695-7D77DD89D683}"/>
              </a:ext>
            </a:extLst>
          </p:cNvPr>
          <p:cNvSpPr txBox="1"/>
          <p:nvPr/>
        </p:nvSpPr>
        <p:spPr>
          <a:xfrm>
            <a:off x="3087328" y="314633"/>
            <a:ext cx="5525731" cy="692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GB" sz="36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Results</a:t>
            </a:r>
            <a:endParaRPr lang="en-IN" sz="3600" b="1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3CDCB-407D-6D07-ADC0-12E0939DE171}"/>
              </a:ext>
            </a:extLst>
          </p:cNvPr>
          <p:cNvSpPr txBox="1"/>
          <p:nvPr/>
        </p:nvSpPr>
        <p:spPr>
          <a:xfrm>
            <a:off x="108156" y="1740310"/>
            <a:ext cx="11975690" cy="4906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209EBB-194A-6E5C-0FF9-50B8F0EBD7F1}"/>
              </a:ext>
            </a:extLst>
          </p:cNvPr>
          <p:cNvSpPr txBox="1"/>
          <p:nvPr/>
        </p:nvSpPr>
        <p:spPr>
          <a:xfrm>
            <a:off x="727586" y="1167724"/>
            <a:ext cx="11169446" cy="5690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Electricity Bill Prediction</a:t>
            </a:r>
            <a:endParaRPr lang="en-IN" sz="18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system predicts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future electricity bills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learning-based regression models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 and line graphs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representing electricity bill trends.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Energy Usage Analysis</a:t>
            </a:r>
            <a:endParaRPr lang="en-IN" sz="18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Lists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appliances with respective power consumption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detailed reports on total energy usage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Helps users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high-energy-consuming appliances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Chatbot Integration</a:t>
            </a:r>
            <a:endParaRPr lang="en-IN" sz="18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chatbot provides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personalized responses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energy-related queries.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 receive </a:t>
            </a:r>
            <a:r>
              <a:rPr lang="en-GB" sz="1800" b="1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recommendations for energy conservation</a:t>
            </a:r>
            <a:r>
              <a:rPr lang="en-GB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888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F484D-4072-BE4D-1C3C-1267D7A1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E93C1B-9731-1669-4E7C-CC0EE5F1EAC0}"/>
              </a:ext>
            </a:extLst>
          </p:cNvPr>
          <p:cNvSpPr txBox="1"/>
          <p:nvPr/>
        </p:nvSpPr>
        <p:spPr>
          <a:xfrm>
            <a:off x="422789" y="550606"/>
            <a:ext cx="11975690" cy="49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GB" sz="2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Screenshot of Output :</a:t>
            </a:r>
            <a:endParaRPr lang="en-IN" sz="2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F2C8F3-BAEB-B35A-2F3E-1E60AE610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09" y="1452137"/>
            <a:ext cx="10107562" cy="511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7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A87A6-EBEF-5E9A-D5B0-F077AE64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02BDD-FC55-49D7-4413-6704F927D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2" y="1111045"/>
            <a:ext cx="11139948" cy="557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2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9DA25-A623-0AC1-5AE8-853415901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04AC5B-8F37-C69B-60AF-5F4BEFC850F5}"/>
              </a:ext>
            </a:extLst>
          </p:cNvPr>
          <p:cNvSpPr txBox="1"/>
          <p:nvPr/>
        </p:nvSpPr>
        <p:spPr>
          <a:xfrm>
            <a:off x="1327354" y="442452"/>
            <a:ext cx="10274710" cy="5860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Linear regression in machine learning is a supervised learning technique that models the relationship between a dependent variable (y) and one or more independent variables (x) using a straight line (or hyperplane in multiple dimensions), aiming to predict a continuous numerical value.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GB" dirty="0">
              <a:solidFill>
                <a:schemeClr val="bg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Mathematical Equation : Simple Linear Regression (one independent variable) :y = β₀ + β₁x + ε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y :  Dependent variable (predicted value)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x :  Independent variable (feature)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β₀ : Intercept (predicted value of y when x is 0)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 β₁ :  Slope (change in y for every unit change in x)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bg2"/>
                </a:solidFill>
              </a:rPr>
              <a:t>y</a:t>
            </a:r>
            <a:r>
              <a:rPr lang="en-GB" dirty="0">
                <a:solidFill>
                  <a:schemeClr val="bg2"/>
                </a:solidFill>
              </a:rPr>
              <a:t> : Error term (random variation)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GB" dirty="0">
              <a:solidFill>
                <a:schemeClr val="bg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Example : Imagine a company wants to predict sales based on advertising spend. They collect data on advertising spend (x) and corresponding sales (y).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8620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B198-3D57-6707-8343-AB9B025E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50CF9D-3A29-6872-2EE4-1B01CB06E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410863"/>
              </p:ext>
            </p:extLst>
          </p:nvPr>
        </p:nvGraphicFramePr>
        <p:xfrm>
          <a:off x="2110658" y="454195"/>
          <a:ext cx="8203380" cy="32722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01690">
                  <a:extLst>
                    <a:ext uri="{9D8B030D-6E8A-4147-A177-3AD203B41FA5}">
                      <a16:colId xmlns:a16="http://schemas.microsoft.com/office/drawing/2014/main" val="1100027606"/>
                    </a:ext>
                  </a:extLst>
                </a:gridCol>
                <a:gridCol w="4101690">
                  <a:extLst>
                    <a:ext uri="{9D8B030D-6E8A-4147-A177-3AD203B41FA5}">
                      <a16:colId xmlns:a16="http://schemas.microsoft.com/office/drawing/2014/main" val="2920217556"/>
                    </a:ext>
                  </a:extLst>
                </a:gridCol>
              </a:tblGrid>
              <a:tr h="65641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Advertising Spend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 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162340"/>
                  </a:ext>
                </a:extLst>
              </a:tr>
              <a:tr h="65641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913447"/>
                  </a:ext>
                </a:extLst>
              </a:tr>
              <a:tr h="65641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711060"/>
                  </a:ext>
                </a:extLst>
              </a:tr>
              <a:tr h="65641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508174"/>
                  </a:ext>
                </a:extLst>
              </a:tr>
              <a:tr h="6465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34509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23342BF-09DB-17F6-1D0A-9B4E37174264}"/>
              </a:ext>
            </a:extLst>
          </p:cNvPr>
          <p:cNvSpPr txBox="1"/>
          <p:nvPr/>
        </p:nvSpPr>
        <p:spPr>
          <a:xfrm>
            <a:off x="776747" y="4227871"/>
            <a:ext cx="11228439" cy="1670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b="1" dirty="0">
                <a:solidFill>
                  <a:schemeClr val="bg2"/>
                </a:solidFill>
              </a:rPr>
              <a:t>Using linear regression, they might find the equation: Sales (y) = 2000 + 3 * Advertising Spend (x).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b="1" dirty="0">
                <a:solidFill>
                  <a:schemeClr val="bg2"/>
                </a:solidFill>
              </a:rPr>
              <a:t>This means for every 1 unit increase in advertising spend, sales are predicted to increase by 3 units.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b="1" dirty="0">
                <a:solidFill>
                  <a:schemeClr val="bg2"/>
                </a:solidFill>
              </a:rPr>
              <a:t>The intercept (2000) represents the predicted sales when advertising spend is zero.</a:t>
            </a:r>
            <a:endParaRPr lang="en-IN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892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3CCA-31E0-D0AF-9AB5-9F123F52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F91F50-F377-343F-82B4-5FCD03389CBB}"/>
              </a:ext>
            </a:extLst>
          </p:cNvPr>
          <p:cNvSpPr txBox="1"/>
          <p:nvPr/>
        </p:nvSpPr>
        <p:spPr>
          <a:xfrm>
            <a:off x="1170037" y="609600"/>
            <a:ext cx="10274710" cy="4302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GB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bg2"/>
                </a:solidFill>
              </a:rPr>
              <a:t>How it works </a:t>
            </a:r>
            <a:r>
              <a:rPr lang="en-GB" sz="2400" dirty="0">
                <a:solidFill>
                  <a:schemeClr val="bg2"/>
                </a:solidFill>
              </a:rPr>
              <a:t>: </a:t>
            </a:r>
          </a:p>
          <a:p>
            <a:pPr>
              <a:lnSpc>
                <a:spcPct val="150000"/>
              </a:lnSpc>
            </a:pPr>
            <a:endParaRPr lang="en-GB" dirty="0">
              <a:solidFill>
                <a:schemeClr val="bg2"/>
              </a:solidFill>
            </a:endParaRPr>
          </a:p>
          <a:p>
            <a:pPr>
              <a:lnSpc>
                <a:spcPct val="250000"/>
              </a:lnSpc>
            </a:pPr>
            <a:r>
              <a:rPr lang="en-GB" b="1" dirty="0">
                <a:solidFill>
                  <a:schemeClr val="bg2"/>
                </a:solidFill>
              </a:rPr>
              <a:t>Data Collection </a:t>
            </a:r>
            <a:r>
              <a:rPr lang="en-GB" dirty="0">
                <a:solidFill>
                  <a:schemeClr val="bg2"/>
                </a:solidFill>
              </a:rPr>
              <a:t>: Gather data on the independent and dependent variables. </a:t>
            </a:r>
          </a:p>
          <a:p>
            <a:pPr>
              <a:lnSpc>
                <a:spcPct val="200000"/>
              </a:lnSpc>
            </a:pPr>
            <a:r>
              <a:rPr lang="en-GB" b="1" dirty="0">
                <a:solidFill>
                  <a:schemeClr val="bg2"/>
                </a:solidFill>
              </a:rPr>
              <a:t>Model Training </a:t>
            </a:r>
            <a:r>
              <a:rPr lang="en-GB" dirty="0">
                <a:solidFill>
                  <a:schemeClr val="bg2"/>
                </a:solidFill>
              </a:rPr>
              <a:t>:  The linear regression model learns the relationship between the variables by finding the "best-fit" line (or hyperplane) that minimizes the difference between the predicted and actual values. </a:t>
            </a:r>
            <a:r>
              <a:rPr lang="en-GB" b="1" dirty="0">
                <a:solidFill>
                  <a:schemeClr val="bg2"/>
                </a:solidFill>
              </a:rPr>
              <a:t>Prediction</a:t>
            </a:r>
            <a:r>
              <a:rPr lang="en-GB" dirty="0">
                <a:solidFill>
                  <a:schemeClr val="bg2"/>
                </a:solidFill>
              </a:rPr>
              <a:t> :  Once the model is trained, it can be used to predict the value of the dependent variable for a new set of independent variable values.</a:t>
            </a:r>
          </a:p>
        </p:txBody>
      </p:sp>
    </p:spTree>
    <p:extLst>
      <p:ext uri="{BB962C8B-B14F-4D97-AF65-F5344CB8AC3E}">
        <p14:creationId xmlns:p14="http://schemas.microsoft.com/office/powerpoint/2010/main" val="618642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598F-1380-7C9F-45B5-5F1AD89B1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691DB-410E-C1FB-08FF-D0458DE4B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272" y="1219598"/>
            <a:ext cx="11139948" cy="53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91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D568E-9CE4-AA62-00CB-8240FF66B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5411C4-72D2-DFEA-A216-476B821F1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433" y="973394"/>
            <a:ext cx="10953135" cy="557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50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FCDD-0FA1-01DB-286D-ACC8A8BA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2501F-FB46-CB89-6C1A-F32F3F7E1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810" y="1111045"/>
            <a:ext cx="11024871" cy="557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41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46BF0-A190-F49B-D828-7E289AF6E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6A274-FF57-69AA-8927-0811DD2C4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5" y="1071716"/>
            <a:ext cx="11120284" cy="557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34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A7AF-EB90-3476-4169-3487BEB7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645735-1CD6-1DC2-CD95-19AF3C6C7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916" y="1015764"/>
            <a:ext cx="10455745" cy="57389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EE301B-3FD3-AB6D-4D8A-061011E7D686}"/>
              </a:ext>
            </a:extLst>
          </p:cNvPr>
          <p:cNvSpPr txBox="1"/>
          <p:nvPr/>
        </p:nvSpPr>
        <p:spPr>
          <a:xfrm>
            <a:off x="412957" y="383458"/>
            <a:ext cx="11975690" cy="49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GB" sz="2400" b="1" kern="100" dirty="0">
                <a:solidFill>
                  <a:srgbClr val="0F4761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 Code</a:t>
            </a:r>
            <a:r>
              <a:rPr lang="en-GB" sz="2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sz="2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31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3ADA7-070C-2C2E-9E98-6B8785CDB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D8CAF-11E9-BB08-7C97-9E110CA7A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465" y="226142"/>
            <a:ext cx="11484077" cy="634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46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F95F4-3A54-A2C5-97C7-AE21441E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202D61-9618-8E9D-9F16-061F04488643}"/>
              </a:ext>
            </a:extLst>
          </p:cNvPr>
          <p:cNvSpPr txBox="1"/>
          <p:nvPr/>
        </p:nvSpPr>
        <p:spPr>
          <a:xfrm>
            <a:off x="3087328" y="314633"/>
            <a:ext cx="5525731" cy="675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GB" sz="1800" b="1" kern="100" dirty="0">
                <a:solidFill>
                  <a:srgbClr val="FF000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Conclusion</a:t>
            </a:r>
            <a:endParaRPr lang="en-IN" sz="3600" b="1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9DFC3-42A3-FA6F-9175-C5B5FAE6C35C}"/>
              </a:ext>
            </a:extLst>
          </p:cNvPr>
          <p:cNvSpPr txBox="1"/>
          <p:nvPr/>
        </p:nvSpPr>
        <p:spPr>
          <a:xfrm>
            <a:off x="108156" y="1740310"/>
            <a:ext cx="11975690" cy="4906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C101F-8795-08E4-94F4-C0E24D9E2D3F}"/>
              </a:ext>
            </a:extLst>
          </p:cNvPr>
          <p:cNvSpPr txBox="1"/>
          <p:nvPr/>
        </p:nvSpPr>
        <p:spPr>
          <a:xfrm>
            <a:off x="570271" y="1145575"/>
            <a:ext cx="11169446" cy="5088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en-GB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Summary of Achievements</a:t>
            </a:r>
            <a:endParaRPr lang="en-IN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Energy Bill Predictor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successfully </a:t>
            </a: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estimates future electricity bills, provides insights into power consumption, and offers AI-driven energy-saving recommendations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system integrates </a:t>
            </a: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 learning, interactive UI, and AI-powered chatbot assistance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create a </a:t>
            </a: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comprehensive energy management solution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.\</a:t>
            </a:r>
          </a:p>
          <a:p>
            <a:pPr>
              <a:buNone/>
            </a:pPr>
            <a:endParaRPr lang="en-IN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en-GB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Benefits of the System</a:t>
            </a:r>
            <a:endParaRPr lang="en-IN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dirty="0">
                <a:solidFill>
                  <a:schemeClr val="bg2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Predicts electricity bills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high accuracy.</a:t>
            </a:r>
            <a:b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dirty="0">
                <a:solidFill>
                  <a:schemeClr val="bg2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Helps users monitor and optimize energy usage.</a:t>
            </a:r>
            <a:b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dirty="0">
                <a:solidFill>
                  <a:schemeClr val="bg2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 chatbot offers real-time guidance on energy conservation.</a:t>
            </a:r>
            <a:b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dirty="0">
                <a:solidFill>
                  <a:schemeClr val="bg2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User-friendly interface for easy navigation.</a:t>
            </a:r>
            <a:b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dirty="0">
                <a:solidFill>
                  <a:schemeClr val="bg2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GB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Supports graphical analysis for better decision-making.</a:t>
            </a:r>
          </a:p>
          <a:p>
            <a:pPr>
              <a:buNone/>
            </a:pPr>
            <a:endParaRPr lang="en-IN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en-GB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Integrating real-time electricity tariff updates</a:t>
            </a:r>
            <a:r>
              <a:rPr lang="en-GB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enhanced accuracy.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Expanding the dataset to improve machine learning model performance.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b="1" kern="100" dirty="0">
                <a:solidFill>
                  <a:schemeClr val="bg2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Developing a mobile application version for on-the-go bill tracking.</a:t>
            </a:r>
            <a:endParaRPr lang="en-IN" kern="100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125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FC86-3283-44C3-F5F8-9A7280E6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C96FDDA-4A11-7E35-62D3-2CC5388CABF7}"/>
              </a:ext>
            </a:extLst>
          </p:cNvPr>
          <p:cNvSpPr txBox="1"/>
          <p:nvPr/>
        </p:nvSpPr>
        <p:spPr>
          <a:xfrm>
            <a:off x="3274142" y="2723535"/>
            <a:ext cx="5525731" cy="89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GB" sz="4800" b="1" i="1" u="sng" kern="100" dirty="0">
                <a:solidFill>
                  <a:srgbClr val="FF000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800" b="1" i="1" u="sng" kern="1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THANK YOU !!!</a:t>
            </a:r>
            <a:endParaRPr lang="en-IN" sz="4800" b="1" i="1" u="sng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1915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143</TotalTime>
  <Words>1264</Words>
  <Application>Microsoft Office PowerPoint</Application>
  <PresentationFormat>Widescreen</PresentationFormat>
  <Paragraphs>139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Arial</vt:lpstr>
      <vt:lpstr>Arial Black</vt:lpstr>
      <vt:lpstr>Courier New</vt:lpstr>
      <vt:lpstr>Gill Sans MT</vt:lpstr>
      <vt:lpstr>Segoe UI Emoji</vt:lpstr>
      <vt:lpstr>Symbol</vt:lpstr>
      <vt:lpstr>Times New Roman</vt:lpstr>
      <vt:lpstr>Wingdings</vt:lpstr>
      <vt:lpstr>Parcel</vt:lpstr>
      <vt:lpstr>KCE’s COLLEGE OF ENGINEERING AND MANAGEMENT, JALGAON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Keshav Kapale</dc:creator>
  <cp:lastModifiedBy>Lalit Chaudhari</cp:lastModifiedBy>
  <cp:revision>4</cp:revision>
  <dcterms:created xsi:type="dcterms:W3CDTF">2025-03-16T11:10:27Z</dcterms:created>
  <dcterms:modified xsi:type="dcterms:W3CDTF">2025-04-25T13:32:53Z</dcterms:modified>
</cp:coreProperties>
</file>